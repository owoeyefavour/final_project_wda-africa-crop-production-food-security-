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62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570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7282" y="2571750"/>
            <a:ext cx="3751118" cy="3646170"/>
          </a:xfrm>
          <a:prstGeom prst="ellipse">
            <a:avLst/>
          </a:prstGeom>
          <a:solidFill>
            <a:srgbClr val="009EDB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34613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More crop production Mean Less Hunger?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26227"/>
            <a:ext cx="75479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Production vs Food Security in Africa, 2010–2024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0950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Final Project · WETIN DEY ACADEMY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090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2000" b="1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 Owoeye</a:t>
            </a:r>
            <a:endParaRPr lang="en-US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0021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and 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5770" y="1051560"/>
            <a:ext cx="4126230" cy="37033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34365" y="1244830"/>
            <a:ext cx="3749040" cy="362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Despite efforts to boost agricultural output, it remains unclear whether producing more food actually translates into better food security outcomes. </a:t>
            </a:r>
          </a:p>
          <a:p>
            <a:pPr algn="just"/>
            <a:endParaRPr lang="en-GB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So, this main question was looked into: </a:t>
            </a:r>
            <a:r>
              <a:rPr lang="en-GB" sz="1600" b="1" dirty="0"/>
              <a:t>DOES INCREASE IN AGRICULTURAL (CROP) PRODUCTION GUARANTEE IMPROVED FOOD SECURITY?</a:t>
            </a:r>
            <a:r>
              <a:rPr lang="en-GB" sz="1600" dirty="0"/>
              <a:t> </a:t>
            </a:r>
          </a:p>
          <a:p>
            <a:pPr algn="just"/>
            <a:endParaRPr lang="en-GB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Microsoft </a:t>
            </a:r>
            <a:r>
              <a:rPr lang="en-GB" sz="1600" dirty="0" err="1"/>
              <a:t>PowerBI</a:t>
            </a:r>
            <a:r>
              <a:rPr lang="en-GB" sz="1600" dirty="0"/>
              <a:t> was the tool used to carry out all analysis.</a:t>
            </a:r>
          </a:p>
          <a:p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92040" y="1051560"/>
            <a:ext cx="3680460" cy="3703320"/>
          </a:xfrm>
          <a:prstGeom prst="roundRect">
            <a:avLst>
              <a:gd name="adj" fmla="val 2286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132070" y="15255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32070" y="2014871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GB" dirty="0">
                <a:solidFill>
                  <a:schemeClr val="bg1"/>
                </a:solidFill>
              </a:rPr>
              <a:t>Africa is rich in land, labour and natural resources for agriculture, yet food insecurity and hunger remain persistent challenges across the continent.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204807" y="3748003"/>
            <a:ext cx="3200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production and undernourishment across African countries, 2010–2024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10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200" dirty="0"/>
              <a:t>How has total crop production changed across Africa, 2010–2024?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9748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628900" y="1810512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undernourishment changed over the same period?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060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10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countries with fastest production growth also show fastest improving food security?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810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grew production but not food security?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9436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5935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improved food security despite falling production?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269748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35935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five regions show different pattern between production and food security?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80060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9E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35935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data truly support "more production guarantees food security"?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51560" y="1188720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57300"/>
            <a:ext cx="457200" cy="457200"/>
          </a:xfrm>
          <a:prstGeom prst="ellipse">
            <a:avLst/>
          </a:prstGeom>
          <a:solidFill>
            <a:srgbClr val="007037"/>
          </a:solidFill>
          <a:ln w="12700">
            <a:solidFill>
              <a:srgbClr val="0070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57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1887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examine trends in crop production and undernourishment across Africa, 2010–2024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51560" y="1987157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982" y="2054074"/>
            <a:ext cx="457200" cy="457200"/>
          </a:xfrm>
          <a:prstGeom prst="ellipse">
            <a:avLst/>
          </a:prstGeom>
          <a:solidFill>
            <a:srgbClr val="007037"/>
          </a:solidFill>
          <a:ln w="12700">
            <a:solidFill>
              <a:srgbClr val="00703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982" y="206321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1987157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assess the relationship between production growth and undernourishment at country level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85800" y="2756915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15520"/>
            <a:ext cx="457200" cy="457200"/>
          </a:xfrm>
          <a:prstGeom prst="ellipse">
            <a:avLst/>
          </a:prstGeom>
          <a:solidFill>
            <a:srgbClr val="007037"/>
          </a:solidFill>
          <a:ln w="12700">
            <a:solidFill>
              <a:srgbClr val="00703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15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14400" y="2756915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patterns between production growth and undernourishment across Africa's five regions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85800" y="3470147"/>
            <a:ext cx="7635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82201"/>
            <a:ext cx="457200" cy="457200"/>
          </a:xfrm>
          <a:prstGeom prst="ellipse">
            <a:avLst/>
          </a:prstGeom>
          <a:solidFill>
            <a:srgbClr val="007037"/>
          </a:solidFill>
          <a:ln w="12700">
            <a:solidFill>
              <a:srgbClr val="007037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1" name="Text 19"/>
          <p:cNvSpPr txBox="1"/>
          <p:nvPr/>
        </p:nvSpPr>
        <p:spPr>
          <a:xfrm>
            <a:off x="477982" y="348220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14400" y="3470147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whether increased production guarantees improved food security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21792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countries excluded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0992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Sudan, South Sudan, Burundi, Equatorial Guinea, Eritrea and Lesotho lack complete data, so country-level findings cover 48 countries.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64408" y="123444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Undernourishment is an estimate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0136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calculated from national food supply, so it can miss hunger within a country.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71616" y="123444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36208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Crops analysed together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170992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production was used, not crop by crop, because the question is about overall volume.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4038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1792" y="31501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factors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1586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Trade, conflict, food prices, population growth and climate shocks are not in the data.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64408" y="304038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429000" y="30403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shows the patterns, not the causes. Explaining why needs trade, conflict, price and aid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and description</a:t>
            </a:r>
            <a:endParaRPr lang="en-US" sz="2600" dirty="0"/>
          </a:p>
        </p:txBody>
      </p:sp>
      <p:sp>
        <p:nvSpPr>
          <p:cNvPr id="3" name="Shape 1">
            <a:hlinkClick r:id="rId3" action="ppaction://hlinksldjump"/>
          </p:cNvPr>
          <p:cNvSpPr/>
          <p:nvPr/>
        </p:nvSpPr>
        <p:spPr>
          <a:xfrm>
            <a:off x="457200" y="12801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production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15,715 rows · 12 columns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harvested, yield and production for 10 staple crops, by country and year.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fao.org/faostat/en/#data/QCL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security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9,940 rows · 12 columns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food security indicators by country and year. Prevalence of undernourishment was the insecurity measure used.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fao.org/faostat/en/#data/FS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580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FAOSTAT (Food and Agriculture Organization Statistical Database) · Africa only · extracted 11 August 2026 · analysed in Microsoft Power BI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and modelling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production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columns with no analytical value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duplicates: none found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 (about 0.7%)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right data types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text in the Item column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security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3736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unneeded columns; no duplicates found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 (about 23.3%)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"&lt;" sign from Value ("&lt;2.5")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Area to Country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Year into start and end year, then added Analysis Year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886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 a Dim_Region table (country and region) links both datasets (many-to-one). DAX measures and calculated columns drive every visual.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· How has total crop production changed across Africa?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docx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95" y="1147572"/>
            <a:ext cx="5754485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234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63640" y="1298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+53%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growth, 2010–2024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4231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542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rose from about 352M tonnes in 2010 to 539M tonnes in 2024, with some year declines.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· How has undernourishment changed across Africa?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docx_media/wor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8578"/>
            <a:ext cx="5532120" cy="31206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234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63640" y="1298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18.21% → 18.59%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undernourishment, 2010 to 2024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4231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542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reduced to 17.56% in 2013, then reversed and rose to 18.59% by 2024.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· Do countries with fastest-production growth show the fastest improving food security?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126480" y="1234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63640" y="1298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clear link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growth vs food security change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4231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542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the fastest production growth were not necessarily the ones with the fastest-improving food security.</a:t>
            </a:r>
            <a:endParaRPr lang="en-US" sz="1200" b="1" dirty="0">
              <a:solidFill>
                <a:srgbClr val="414042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endParaRPr lang="en-US" sz="1200" b="1" dirty="0">
              <a:solidFill>
                <a:srgbClr val="414042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414042"/>
                </a:solidFill>
                <a:latin typeface="Calibri" pitchFamily="34" charset="0"/>
                <a:cs typeface="Calibri" pitchFamily="34" charset="-120"/>
              </a:rPr>
              <a:t>Malawi’s undernourishment rose by 10 percentage points (pts).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11F582-351D-AC1B-8A9B-D59B48CB2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11" y="1240259"/>
            <a:ext cx="5604969" cy="31667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 · Which countries grew production but not food security?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docx_media/word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38" y="1164687"/>
            <a:ext cx="5758642" cy="32484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234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63640" y="1298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of 48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 production up, hunger not improved (44%)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4231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542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of 48 countries (44%) grew production while undernourishment stayed flat or worsened, i.e. food security did not improve.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 · Which countries improved food security despite falling production?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docx_media/word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4499"/>
            <a:ext cx="5623560" cy="31722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234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63640" y="1298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countries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Hunger fell even though production fell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4231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542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Somalia, Eswatini, Zimbabwe, Namibia and Cabo Verde improved food security despite falling production. In Somalia, production fell by 45% while nourishment improved by 16 percentage points (pts).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 · Do Africa's five regions show different patterns?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docx_media/word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2787"/>
            <a:ext cx="5623560" cy="31722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2344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007037"/>
          </a:solidFill>
          <a:ln w="9525">
            <a:solidFill>
              <a:srgbClr val="00703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63640" y="1298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+3.1 vs −3.5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847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vs Southern Africa, average change in points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4231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5420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7889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Africa's undernourishment rose by 3.1 percentage points on average, while Southern Africa's fell by 3.5 points.</a:t>
            </a:r>
            <a:endParaRPr lang="en-US" sz="12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1527463" y="114300"/>
            <a:ext cx="5164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Overview · Country-Level Analysis · Regional Analysis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D02FD0-8D20-D0CD-235A-A38AE926C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81" y="434340"/>
            <a:ext cx="8469183" cy="4334708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1927218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-45720"/>
            <a:ext cx="8229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17320"/>
            <a:ext cx="384048" cy="384048"/>
          </a:xfrm>
          <a:prstGeom prst="ellipse">
            <a:avLst/>
          </a:prstGeom>
          <a:solidFill>
            <a:srgbClr val="007037"/>
          </a:solidFill>
          <a:ln w="12700">
            <a:solidFill>
              <a:srgbClr val="0070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76672" y="1371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beyond the harvest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116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countries grew more food but hunger did not improve. Check the whole journey to the plate: roads, storage, preservation and fair prices.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007037"/>
          </a:solidFill>
          <a:ln w="12700">
            <a:solidFill>
              <a:srgbClr val="0070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from countries that improved with less output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03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Somalia and four others improved food security despite lower production. Study what worked and test it elsewhere.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1E6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08960"/>
            <a:ext cx="384048" cy="384048"/>
          </a:xfrm>
          <a:prstGeom prst="ellipse">
            <a:avLst/>
          </a:prstGeom>
          <a:solidFill>
            <a:srgbClr val="007037"/>
          </a:solidFill>
          <a:ln w="12700">
            <a:solidFill>
              <a:srgbClr val="0070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76672" y="30632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hunger, not just harvests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703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1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not only how much food is grown but how much is secured. Governments should keep tracking food security trends.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7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Increased crop production does not guarantee improved food security in Africa.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5804B"/>
          </a:solidFill>
          <a:ln w="9525">
            <a:solidFill>
              <a:srgbClr val="15804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228600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+53%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production growth, 2010–2024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4408" y="214884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5804B"/>
          </a:solidFill>
          <a:ln w="9525">
            <a:solidFill>
              <a:srgbClr val="15804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01568" y="228600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18.21% → 18.59%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301752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undernourishment, 2010 to 2024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71616" y="2148840"/>
            <a:ext cx="2624328" cy="1600200"/>
          </a:xfrm>
          <a:prstGeom prst="roundRect">
            <a:avLst>
              <a:gd name="adj" fmla="val 4571"/>
            </a:avLst>
          </a:prstGeom>
          <a:solidFill>
            <a:srgbClr val="15804B"/>
          </a:solidFill>
          <a:ln w="9525">
            <a:solidFill>
              <a:srgbClr val="15804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08776" y="228600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of 48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301752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F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where production grew but hunger did not improve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Q8: not guaranteed. Production is one factor among several.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7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377440"/>
            <a:ext cx="3840480" cy="3840480"/>
          </a:xfrm>
          <a:prstGeom prst="ellipse">
            <a:avLst/>
          </a:prstGeom>
          <a:solidFill>
            <a:srgbClr val="009EDB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FEAD9"/>
                </a:solidFill>
                <a:latin typeface="Calibri" pitchFamily="34" charset="0"/>
                <a:cs typeface="Calibri" pitchFamily="34" charset="-120"/>
              </a:rPr>
              <a:t>Comments, feedbacks?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FAOSTAT · Analysis: Microsoft Power 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1063</Words>
  <Application>Microsoft Office PowerPoint</Application>
  <PresentationFormat>On-screen Show (16:9)</PresentationFormat>
  <Paragraphs>159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More Food Mean Less Hunger?</dc:title>
  <dc:subject>PptxGenJS Presentation</dc:subject>
  <dc:creator>PptxGenJS</dc:creator>
  <cp:lastModifiedBy>Favour Owoeye</cp:lastModifiedBy>
  <cp:revision>6</cp:revision>
  <dcterms:created xsi:type="dcterms:W3CDTF">2026-09-28T01:16:10Z</dcterms:created>
  <dcterms:modified xsi:type="dcterms:W3CDTF">2026-09-30T00:35:28Z</dcterms:modified>
</cp:coreProperties>
</file>